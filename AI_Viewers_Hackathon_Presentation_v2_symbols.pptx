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6" r:id="rId3"/>
    <p:sldId id="257" r:id="rId4"/>
    <p:sldId id="258" r:id="rId5"/>
    <p:sldId id="265" r:id="rId6"/>
    <p:sldId id="267" r:id="rId7"/>
    <p:sldId id="268" r:id="rId8"/>
    <p:sldId id="26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>
        <p:scale>
          <a:sx n="76" d="100"/>
          <a:sy n="76" d="100"/>
        </p:scale>
        <p:origin x="-42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D1942232-83D0-49E2-AF9B-1F97E3C1EF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E9E70D72-6E23-4015-A4A6-85C120C191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1AE5121-AEBF-F1E8-8A0C-1B576693E7BA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INNOVATE BHARAT HACKATHON 2026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C28A977F-B603-4D81-B0FC-C8DE048A79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0183CE8C-E039-4B2F-A36E-5FD5CD5DE1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3EB77281-FAB4-40D0-B3F3-264EC4AB20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815E59F3-75FC-494F-8737-5F00A4964F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43ADDCFA-B066-4D79-AB71-062E66E58F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02F6A545-7889-EE7D-B819-8344E089B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B5146A-EBD6-B1B2-C76F-054DAC334AA2}"/>
              </a:ext>
            </a:extLst>
          </p:cNvPr>
          <p:cNvSpPr txBox="1"/>
          <p:nvPr/>
        </p:nvSpPr>
        <p:spPr>
          <a:xfrm>
            <a:off x="2566796" y="2679747"/>
            <a:ext cx="6043803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TRACKS: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AI &amp; Intelligent Systems (AIIS)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Web app and software Innovation (WASI)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Cybersecurity and Block Chain (CSBC)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Data Science and Smart Analysis (DSSA)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Social Impact and Smart India Solutions (SISIS)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School Student Innovation (SCHII)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AEED24-D842-C3E8-2E3F-564DB8F6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C78D9229-E61D-4FEE-8321-2F8B64A8CA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1FDD3CCB-26A3-4D79-AEB6-7A60CF980DC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E9AC4470-5113-4709-B29F-CDB937F254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3E0D146C-9DAB-421E-AE88-5F854BF3F7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12EB32A5-4408-4F6C-84B2-F9A908237A6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9F52A71C-44A3-2F37-D0DE-AAB637FE9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4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3C78AD1F-4F7B-81CC-FEBE-4670D5A43A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6C05ADC-EBCA-9F88-FC1E-077C36C3E6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AI Interview Platform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CCB70DC0-DEF5-82D2-84D3-5090BDF0D2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70B99616-C896-F10A-6A37-6619B94F8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91DB4322-2DFB-A6A7-E968-ECB11ECE405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BB5A62EA-7B6B-AB02-6DA3-10823E7C5C6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29BCEA99-BAB3-D646-3C26-C6E0E54281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0C8108A-C924-47FE-071A-B6C1E0E3B382}"/>
              </a:ext>
            </a:extLst>
          </p:cNvPr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Team Name:  | Team ID: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F0173917-5C1C-82AB-6142-EB886DC6EE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EC858B04-B12F-1D0A-121A-346F95B99B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B504C547-3367-766C-837A-A78935C9AF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F5FD4B83-38EE-F5C8-A96F-D32BF29FD0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75009BB2-8F7B-D699-BD61-2727F0F203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EB0F3D4-715A-9B70-76F8-0B1A410BD936}"/>
              </a:ext>
            </a:extLst>
          </p:cNvPr>
          <p:cNvSpPr txBox="1"/>
          <p:nvPr/>
        </p:nvSpPr>
        <p:spPr>
          <a:xfrm>
            <a:off x="1381321" y="368038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Team Members:</a:t>
            </a:r>
          </a:p>
          <a:p>
            <a:r>
              <a:t>1.</a:t>
            </a:r>
          </a:p>
          <a:p>
            <a: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97C1B8-6662-5502-4089-9DEA9AE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B606C71-BB9E-D39E-2E01-6947D28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3</a:t>
            </a:fld>
            <a:r>
              <a:rPr lang="en-IN" dirty="0"/>
              <a:t> W</a:t>
            </a:r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5F4F79DF-9767-E5A8-8AF3-F6335318A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xmlns="" id="{57521C2D-0A12-0BE0-D27F-A64EC882E1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C633C47-0227-5277-1FFA-57C12A05F8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99EBEFD-2238-7C2F-DF28-B09B2A460C30}"/>
              </a:ext>
            </a:extLst>
          </p:cNvPr>
          <p:cNvSpPr txBox="1"/>
          <p:nvPr/>
        </p:nvSpPr>
        <p:spPr>
          <a:xfrm>
            <a:off x="4171901" y="367607"/>
            <a:ext cx="384414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Problem Statement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C11F4149-52B1-AB05-4DBF-9B5E328616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xmlns="" id="{C4F8C0D9-4C65-56AE-4144-C9CD551DE99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21">
              <a:extLst>
                <a:ext uri="{FF2B5EF4-FFF2-40B4-BE49-F238E27FC236}">
                  <a16:creationId xmlns:a16="http://schemas.microsoft.com/office/drawing/2014/main" xmlns="" id="{05478CF4-30DD-6522-6898-A1FBC9668F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22">
              <a:extLst>
                <a:ext uri="{FF2B5EF4-FFF2-40B4-BE49-F238E27FC236}">
                  <a16:creationId xmlns:a16="http://schemas.microsoft.com/office/drawing/2014/main" xmlns="" id="{EC383C5F-8D6C-0C91-7F35-C78C36895F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23">
              <a:extLst>
                <a:ext uri="{FF2B5EF4-FFF2-40B4-BE49-F238E27FC236}">
                  <a16:creationId xmlns:a16="http://schemas.microsoft.com/office/drawing/2014/main" xmlns="" id="{2AE493C0-FED7-A378-B4F2-739979AB13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17FA03F5-F4BF-E184-6040-856156AE1C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xmlns="" id="{8CA6072C-462B-7E98-EF93-005F337ED6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45E4D8B-36E6-F1FE-5E67-E097BFFEC7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xmlns="" id="{194A745E-CF17-8242-AAC1-CFD911AD49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27">
              <a:extLst>
                <a:ext uri="{FF2B5EF4-FFF2-40B4-BE49-F238E27FC236}">
                  <a16:creationId xmlns:a16="http://schemas.microsoft.com/office/drawing/2014/main" xmlns="" id="{0B68D38B-937C-ADE3-3B5F-1BBD3AD714E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xmlns="" id="{036A3A8D-E06A-449C-6C90-F84B9E8A20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xmlns="" id="{38AF1577-067B-B497-7804-C17FA4C22F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20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5C19E2A6-1141-C824-F2BF-D2BFCF09C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0000" y="138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Current Hiring Problems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0000" y="1760000"/>
            <a:ext cx="9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2222"/>
                </a:solidFill>
              </a:defRPr>
            </a:pPr>
            <a:r>
              <a:t>- Manual interviews take too much recruiter time</a:t>
            </a:r>
          </a:p>
          <a:p>
            <a:r>
              <a:t>- Different interviewers create inconsistent evaluation</a:t>
            </a:r>
          </a:p>
          <a:p>
            <a:r>
              <a:t>- Scheduling slows the shortlist process</a:t>
            </a:r>
          </a:p>
          <a:p>
            <a:r>
              <a:t>- High-volume recruitment is difficult to scale</a:t>
            </a:r>
          </a:p>
          <a:p>
            <a:r>
              <a:t>- Feedback and ranking are delayed for decision makers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0000" y="44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Impact: slower hiring pipeline, higher screening effort, and uneven candidate assessment.</a:t>
            </a:r>
          </a:p>
        </p:txBody>
      </p:sp>
    </p:spTree>
    <p:extLst>
      <p:ext uri="{BB962C8B-B14F-4D97-AF65-F5344CB8AC3E}">
        <p14:creationId xmlns:p14="http://schemas.microsoft.com/office/powerpoint/2010/main" val="312015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78E274-C627-E80A-CF40-A772916C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BFB5FD9-1F5F-5F84-88D9-A72F013C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1881C505-F0BD-25E8-FD3B-3295A5E3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2617EDC7-637D-2183-3E37-C6BECCCACC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7CE7E5F9-EB5C-2C3D-7B75-4D4DDE0494D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4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B683A6EE-89A4-6714-8511-0ED76F47C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237A484D-D11F-0B17-F111-F76FB0BE0F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6A39220-2E5E-9225-03C7-7D31CE8FE2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05091E1-2002-C3EF-AD14-30B2F7142842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Proposed Solution/Idea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A61F2F74-3A1F-1FC4-F4D1-EDAA57D68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0F18D0D6-2A36-D31D-D9D1-5A6DF35D51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DC2468D4-3664-2D33-9388-48C1EEA509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FD6F78CC-57EB-00F3-78A1-5BE0F030D6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24639984-D9DD-7D44-7846-ED71B45980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B6E4A9D6-5D70-4F8A-0423-C0154E804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B48891F8-A067-286D-FFC5-F283B06FA60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A87BD122-45D1-5D24-39BA-6BA0631D30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A95D2445-22C7-5060-1017-16E390802BC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0492B89D-0873-485F-2316-F176A2096A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229C523E-42B0-8B62-1C8A-756271BADC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C36ADEC2-9229-4261-1704-0441B691B5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2ADC4BFE-1AB8-DA1A-99B3-25B4C716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0000" y="125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Interview Flow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0000" y="3150000"/>
            <a:ext cx="9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2222"/>
                </a:solidFill>
              </a:defRPr>
            </a:pPr>
            <a:r>
              <a:t>Solution Summary: The platform lets recruiters train an AI avatar, build question sets, send interview links, record candidate answers, and automatically generate evaluation-ready results.</a:t>
            </a:r>
          </a:p>
        </p:txBody>
      </p:sp>
      <p:sp>
        <p:nvSpPr>
          <p:cNvPr id="35" name="Terminator 34"/>
          <p:cNvSpPr/>
          <p:nvPr/>
        </p:nvSpPr>
        <p:spPr>
          <a:xfrm>
            <a:off x="650000" y="1850000"/>
            <a:ext cx="900000" cy="700000"/>
          </a:xfrm>
          <a:prstGeom prst="flowChartTerminator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610000" y="2040000"/>
            <a:ext cx="260000" cy="32000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rocess 36"/>
          <p:cNvSpPr/>
          <p:nvPr/>
        </p:nvSpPr>
        <p:spPr>
          <a:xfrm>
            <a:off x="1930000" y="1850000"/>
            <a:ext cx="1350000" cy="700000"/>
          </a:xfrm>
          <a:prstGeom prst="flowChartProcess">
            <a:avLst/>
          </a:prstGeom>
          <a:solidFill>
            <a:srgbClr val="225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HR Login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340000" y="2040000"/>
            <a:ext cx="260000" cy="32000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rocess 38"/>
          <p:cNvSpPr/>
          <p:nvPr/>
        </p:nvSpPr>
        <p:spPr>
          <a:xfrm>
            <a:off x="3660000" y="1850000"/>
            <a:ext cx="1350000" cy="700000"/>
          </a:xfrm>
          <a:prstGeom prst="flowChartProcess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Create Session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070000" y="2040000"/>
            <a:ext cx="260000" cy="32000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rocess 40"/>
          <p:cNvSpPr/>
          <p:nvPr/>
        </p:nvSpPr>
        <p:spPr>
          <a:xfrm>
            <a:off x="5390000" y="1850000"/>
            <a:ext cx="1350000" cy="700000"/>
          </a:xfrm>
          <a:prstGeom prst="flowChartProcess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Share Link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800000" y="2040000"/>
            <a:ext cx="260000" cy="32000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redefined Process 42"/>
          <p:cNvSpPr/>
          <p:nvPr/>
        </p:nvSpPr>
        <p:spPr>
          <a:xfrm>
            <a:off x="7120000" y="1850000"/>
            <a:ext cx="1350000" cy="700000"/>
          </a:xfrm>
          <a:prstGeom prst="flowChartPredefinedProcess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Interview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530000" y="2040000"/>
            <a:ext cx="260000" cy="32000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rocess 44"/>
          <p:cNvSpPr/>
          <p:nvPr/>
        </p:nvSpPr>
        <p:spPr>
          <a:xfrm>
            <a:off x="8850000" y="1850000"/>
            <a:ext cx="1350000" cy="700000"/>
          </a:xfrm>
          <a:prstGeom prst="flowChartProcess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&amp; Rank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260000" y="2040000"/>
            <a:ext cx="260000" cy="32000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rminator 46"/>
          <p:cNvSpPr/>
          <p:nvPr/>
        </p:nvSpPr>
        <p:spPr>
          <a:xfrm>
            <a:off x="10580000" y="1850000"/>
            <a:ext cx="900000" cy="700000"/>
          </a:xfrm>
          <a:prstGeom prst="flowChartTerminator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926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B6D30F-10BD-514E-7C2C-CABF8E09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30D5E0-65C4-2D79-C240-6F35388C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94B8DF-4E89-6DB0-A717-08CB3CAD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8B5C77F5-55DB-01EC-2CEB-E7D257000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156B15E6-66C7-8C8F-55E9-2270E947AB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446C2E2F-CC94-B1E1-450B-FEC3325BA6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5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54B53E9A-85E5-FD12-E25C-7D74D0CCB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847E2899-E97A-85D0-444F-D069DC5C07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D98DAE5-57C9-1062-38D4-F5D8E25920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2604CEB-AD09-ADB6-0862-0ADFFB82A844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Innovation &amp; Uniqueness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7ADCBCC-8F45-37BD-DEE5-29084AD9D4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AABF1DC9-A94A-61AB-5C74-C79B5CA908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A03C9544-ED11-2412-FD24-285C67687E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5EDEE767-488B-1174-0772-46A5D123F4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C4ECB3AC-B40D-3ED9-C7E7-76A4D0B6FC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A0DA2E88-67C5-2FCA-3DE1-4F730134B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37511144-1C96-849F-67EF-9F96E90984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F3FD04D1-E8CD-C58A-C032-845D9E8DC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8F56B301-92D9-0147-A14C-E6A5F95B56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F63F0C9E-F01D-E8A5-E3D2-6E57765F18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4A8062F2-6D93-3D81-617D-BAD8846373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A7400B5D-5F6F-9D51-3A29-BE50D9A103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2EE08080-4909-1A84-D501-9A12BB0A0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300000"/>
            <a:ext cx="3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Core Algorithms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700000"/>
            <a:ext cx="9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t>1. Keyword Matching Algorithm: compares answer text with expected role keywords.</a:t>
            </a:r>
          </a:p>
          <a:p>
            <a:r>
              <a:t>2. Relevance Scoring Algorithm: measures overlap between question terms and candidate response.</a:t>
            </a:r>
          </a:p>
          <a:p>
            <a:r>
              <a:t>3. Confidence Scoring Algorithm: evaluates confidence phrases and response length.</a:t>
            </a:r>
          </a:p>
          <a:p>
            <a:r>
              <a:t>4. Weighted Overall Score Algorithm: combines relevance, accuracy, confidence, and keyword score.</a:t>
            </a:r>
          </a:p>
          <a:p>
            <a:r>
              <a:t>5. Candidate Ranking Algorithm: sorts candidates by overall score for recruiter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0000" y="4250000"/>
            <a:ext cx="93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2222"/>
                </a:solidFill>
              </a:defRPr>
            </a:pPr>
            <a:r>
              <a:t>Uniqueness: the system joins avatar-led interviewing, response recording, live transcription, and rule-based AI scoring in one workflow instead of separate HR tools.</a:t>
            </a:r>
          </a:p>
        </p:txBody>
      </p:sp>
    </p:spTree>
    <p:extLst>
      <p:ext uri="{BB962C8B-B14F-4D97-AF65-F5344CB8AC3E}">
        <p14:creationId xmlns:p14="http://schemas.microsoft.com/office/powerpoint/2010/main" val="30237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338FB9-46E2-C60C-92BF-22CDB5C9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314F5E-09E4-89B4-39EB-7556D28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857143B-C875-A4A1-E58E-319DCF09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BBB029A8-98E0-4E57-80DD-6D36B04F4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2970DF77-BE14-CE10-0B50-6191FB44B6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0ED8712E-6DF1-09B5-902D-9AF580CECD5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6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D9DEF76F-CBFB-1ABB-0620-66518FD34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319EC2AC-5B66-5A6F-B955-120E873F4C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68774A5-3983-068B-F32E-8D20AF02CA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D63535A-4715-6023-8F45-4697755BE93E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Technology Used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E005E67-F019-51A5-34EF-25901F9E15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DEF9EA64-B8A6-6D34-CDF3-C252EA242A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F5E976EA-8480-23C8-DDB2-E4E959D99F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09BC0516-0B22-65CF-2A7B-5B7B325E44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982F7E74-CC9C-4776-1C91-75D14D576B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A1F267AE-7039-7AAA-610C-B932FCC04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67304840-A971-834E-F7D8-973EE14637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A3CD3C47-FB45-34FD-67BB-14947EAE64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623FF4FB-E123-1FBD-1E9C-66CFCE3663F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579BD904-6C3E-E11F-7070-EEC4F04084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48D44DE1-C7FC-D524-9BC8-37489EF045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939ECBD1-5700-7DF0-71AC-4187AAAA20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6CCD3785-85D3-171F-7854-C97494395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26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620000"/>
            <a:ext cx="9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t>React 18, Vite, Tailwind CSS, React Router DOM, Recharts, face-api.js,</a:t>
            </a:r>
          </a:p>
          <a:p>
            <a:r>
              <a:t>Web Speech API, MediaRecorder API, Lucide React, Context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0000" y="270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Project Modules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0000" y="3070000"/>
            <a:ext cx="93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t>Modules: AuthContext, InterviewContext, AIAvatar, VideoRecorder, SpeechToText, Timer,</a:t>
            </a:r>
          </a:p>
          <a:p>
            <a:r>
              <a:t>CandidateRegistration, InterviewRoom, Dashboard, Sessions, CreateSession, Candidates,</a:t>
            </a:r>
          </a:p>
          <a:p>
            <a:r>
              <a:t>aiAnalysis.js, mediaUtils.js, helpers.js</a:t>
            </a:r>
          </a:p>
        </p:txBody>
      </p:sp>
    </p:spTree>
    <p:extLst>
      <p:ext uri="{BB962C8B-B14F-4D97-AF65-F5344CB8AC3E}">
        <p14:creationId xmlns:p14="http://schemas.microsoft.com/office/powerpoint/2010/main" val="21126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8822F5-6D7D-4227-85D7-16B67B05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4500E9-734C-CAA0-17FE-17689353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922EA4-B1F6-34D3-5626-416BFEC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3CC82AE6-9D2A-2D88-F491-8203880CC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A065C8CE-28F6-0C6B-338C-C3B5B298F9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649D56B7-D53C-011E-2F3F-D5AD326BEFE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7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E64D2BE9-CE4D-7481-3EE6-3ABA5F7F9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FED1D958-30C5-BFBB-4704-8AA5760A38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F8B59F7-E15D-2790-BD01-92549C8BD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6DC28E2-5885-1FB9-C717-8250B26F451A}"/>
              </a:ext>
            </a:extLst>
          </p:cNvPr>
          <p:cNvSpPr txBox="1"/>
          <p:nvPr/>
        </p:nvSpPr>
        <p:spPr>
          <a:xfrm>
            <a:off x="3436884" y="367607"/>
            <a:ext cx="488598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Features &amp; Functionalities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A18811A-4F8E-2836-EF90-7221277EF3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E2B4672F-F1C3-2CFE-B3D1-6509F2ED93F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CC37C06D-DFF9-BC83-B432-49605D4FF1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5CA88AC1-9155-569A-E5BF-6E8E1C824B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7AA4055F-FF3F-644A-E624-DD0C525670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58A6E750-84CF-ABE6-EFC6-FB0465DF5B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75C741BE-C4AB-E613-A2EB-9F3D7D425B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AEE57456-7DB2-D9E0-3DC1-538B620CB1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6ADB1A64-E449-E424-9C0D-1AF876BDF3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552BB634-DB1D-6842-4281-027496EA2B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BBD6908A-5E17-7977-6487-318FB3DA3C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01A557D7-B7C4-85B2-1FB2-6EA251876B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6F93DC9F-B0C2-003C-927D-41C7D7DB0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28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Functional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650000"/>
            <a:ext cx="93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t>- Authentication Module: user login and role handling</a:t>
            </a:r>
          </a:p>
          <a:p>
            <a:r>
              <a:t>- Session Management Module: create, update, publish, and close interviews</a:t>
            </a:r>
          </a:p>
          <a:p>
            <a:r>
              <a:t>- Candidate Module: registration, interview access, and completion tracking</a:t>
            </a:r>
          </a:p>
          <a:p>
            <a:r>
              <a:t>- Recording Module: video and audio capture using MediaRecorder</a:t>
            </a:r>
          </a:p>
          <a:p>
            <a:r>
              <a:t>- Transcription Module: speech recognition for answer text</a:t>
            </a:r>
          </a:p>
          <a:p>
            <a:r>
              <a:t>- AI Analysis Module: keyword, relevance, confidence, and ranking logic</a:t>
            </a:r>
          </a:p>
          <a:p>
            <a:r>
              <a:t>- Dashboard Module: candidate list, scores, and recruiter insights</a:t>
            </a:r>
          </a:p>
        </p:txBody>
      </p:sp>
    </p:spTree>
    <p:extLst>
      <p:ext uri="{BB962C8B-B14F-4D97-AF65-F5344CB8AC3E}">
        <p14:creationId xmlns:p14="http://schemas.microsoft.com/office/powerpoint/2010/main" val="282943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8B8961-0E57-6CF4-6A2E-6E3844CE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3BF5FA-4F07-3415-25E3-C29F21EF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588901C-CFCA-5956-3989-DB48B37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808F960A-289C-591A-BEEA-F0564F0CC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CF7CB260-476E-D58E-6C85-22C5CE0DCD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6CA2909C-E433-498A-659E-70C518245C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8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42675280-1BA9-C78D-15BD-C603CC170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3E0B5CAE-859F-2E56-77C1-EEF4164DD0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C52D47E-A735-DAB0-DB53-2B7823EA2B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1126AD-F670-1E1A-0DD5-7E5F8DE779B0}"/>
              </a:ext>
            </a:extLst>
          </p:cNvPr>
          <p:cNvSpPr txBox="1"/>
          <p:nvPr/>
        </p:nvSpPr>
        <p:spPr>
          <a:xfrm>
            <a:off x="3436883" y="367607"/>
            <a:ext cx="5776065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Implementation Plan / Roadmap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4B08DE12-9223-0B45-7844-C8442188B0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C6B389A5-57A1-5BDD-19D5-935489A75D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D47C928B-E00F-1E52-C717-07A5AAF025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7CA94AD0-2C13-149F-27C4-C1BF48D92C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81292ABA-6799-0521-BC93-F47A7A14569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52C4D73F-1345-3CA9-C6C5-8928CA105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06788EA6-29B6-4A1B-6379-A0B95808548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064AE98E-B324-7FD5-5724-C47113E825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93A260AE-0C5C-4CC3-70C4-9D528AE9D8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F824AC28-C4B1-F6B1-6402-A3E6B78AFF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1E9727E5-F04D-5242-381E-4D642EBCFF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E7132A91-975B-8373-609C-1F7963E8D47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62CCCF5C-DE08-D2D7-6A05-49C3680CB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250000"/>
            <a:ext cx="4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Implementation + Algorithm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600000"/>
            <a:ext cx="2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222"/>
                </a:solidFill>
              </a:defRPr>
            </a:pPr>
            <a:r>
              <a:t>Roadmap</a:t>
            </a:r>
          </a:p>
        </p:txBody>
      </p:sp>
      <p:sp>
        <p:nvSpPr>
          <p:cNvPr id="26" name="Process 25"/>
          <p:cNvSpPr/>
          <p:nvPr/>
        </p:nvSpPr>
        <p:spPr>
          <a:xfrm>
            <a:off x="1180000" y="1880000"/>
            <a:ext cx="1600000" cy="760000"/>
          </a:xfrm>
          <a:prstGeom prst="flowChartProcess">
            <a:avLst/>
          </a:prstGeom>
          <a:solidFill>
            <a:srgbClr val="225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</a:t>
            </a:r>
            <a:br/>
            <a:r>
              <a:t>Auth + Sessions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830000" y="2130000"/>
            <a:ext cx="220000" cy="26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cess 27"/>
          <p:cNvSpPr/>
          <p:nvPr/>
        </p:nvSpPr>
        <p:spPr>
          <a:xfrm>
            <a:off x="3100000" y="1880000"/>
            <a:ext cx="1600000" cy="760000"/>
          </a:xfrm>
          <a:prstGeom prst="flowChartProcess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</a:t>
            </a:r>
            <a:br/>
            <a:r>
              <a:t>Avatar Training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50000" y="2130000"/>
            <a:ext cx="220000" cy="26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ocess 29"/>
          <p:cNvSpPr/>
          <p:nvPr/>
        </p:nvSpPr>
        <p:spPr>
          <a:xfrm>
            <a:off x="5020000" y="1880000"/>
            <a:ext cx="1600000" cy="760000"/>
          </a:xfrm>
          <a:prstGeom prst="flowChartProcess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</a:t>
            </a:r>
            <a:br/>
            <a:r>
              <a:t>Recording + STT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70000" y="2130000"/>
            <a:ext cx="220000" cy="26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rocess 31"/>
          <p:cNvSpPr/>
          <p:nvPr/>
        </p:nvSpPr>
        <p:spPr>
          <a:xfrm>
            <a:off x="6940000" y="1880000"/>
            <a:ext cx="1600000" cy="760000"/>
          </a:xfrm>
          <a:prstGeom prst="flowChartProcess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</a:t>
            </a:r>
            <a:br/>
            <a:r>
              <a:t>Scoring + Ranking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590000" y="2130000"/>
            <a:ext cx="220000" cy="26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rocess 33"/>
          <p:cNvSpPr/>
          <p:nvPr/>
        </p:nvSpPr>
        <p:spPr>
          <a:xfrm>
            <a:off x="8860000" y="1880000"/>
            <a:ext cx="1600000" cy="760000"/>
          </a:xfrm>
          <a:prstGeom prst="flowChartProcess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5</a:t>
            </a:r>
            <a:br/>
            <a:r>
              <a:t>Dashboard +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0000" y="2850000"/>
            <a:ext cx="32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222"/>
                </a:solidFill>
              </a:defRPr>
            </a:pPr>
            <a:r>
              <a:t>Algorithm Pipeline</a:t>
            </a:r>
          </a:p>
        </p:txBody>
      </p:sp>
      <p:sp>
        <p:nvSpPr>
          <p:cNvPr id="36" name="Data 35"/>
          <p:cNvSpPr/>
          <p:nvPr/>
        </p:nvSpPr>
        <p:spPr>
          <a:xfrm>
            <a:off x="1180000" y="3150000"/>
            <a:ext cx="1300000" cy="760000"/>
          </a:xfrm>
          <a:prstGeom prst="flowChartInputOutpu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</a:t>
            </a:r>
            <a:br/>
            <a:r>
              <a:t>Answer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530000" y="3410000"/>
            <a:ext cx="200000" cy="24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rocess 37"/>
          <p:cNvSpPr/>
          <p:nvPr/>
        </p:nvSpPr>
        <p:spPr>
          <a:xfrm>
            <a:off x="2780000" y="3150000"/>
            <a:ext cx="1300000" cy="760000"/>
          </a:xfrm>
          <a:prstGeom prst="flowChartProcess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Transcription</a:t>
            </a:r>
            <a:br/>
            <a:r>
              <a:t>(STT)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130000" y="3410000"/>
            <a:ext cx="200000" cy="24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rocess 39"/>
          <p:cNvSpPr/>
          <p:nvPr/>
        </p:nvSpPr>
        <p:spPr>
          <a:xfrm>
            <a:off x="4380000" y="3150000"/>
            <a:ext cx="1300000" cy="760000"/>
          </a:xfrm>
          <a:prstGeom prst="flowChartProcess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730000" y="3410000"/>
            <a:ext cx="200000" cy="24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rocess 41"/>
          <p:cNvSpPr/>
          <p:nvPr/>
        </p:nvSpPr>
        <p:spPr>
          <a:xfrm>
            <a:off x="5980000" y="3150000"/>
            <a:ext cx="1300000" cy="760000"/>
          </a:xfrm>
          <a:prstGeom prst="flowChartProcess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Score</a:t>
            </a:r>
            <a:br/>
            <a:r>
              <a:t>Calculation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330000" y="3410000"/>
            <a:ext cx="200000" cy="24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rocess 43"/>
          <p:cNvSpPr/>
          <p:nvPr/>
        </p:nvSpPr>
        <p:spPr>
          <a:xfrm>
            <a:off x="7580000" y="3150000"/>
            <a:ext cx="1300000" cy="760000"/>
          </a:xfrm>
          <a:prstGeom prst="flowChartProcess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Ranking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930000" y="3410000"/>
            <a:ext cx="200000" cy="240000"/>
          </a:xfrm>
          <a:prstGeom prst="rightArrow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cument 45"/>
          <p:cNvSpPr/>
          <p:nvPr/>
        </p:nvSpPr>
        <p:spPr>
          <a:xfrm>
            <a:off x="9180000" y="3150000"/>
            <a:ext cx="1300000" cy="760000"/>
          </a:xfrm>
          <a:prstGeom prst="flowChartDocument">
            <a:avLst/>
          </a:prstGeom>
          <a:solidFill>
            <a:srgbClr val="225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Dashboard</a:t>
            </a:r>
            <a:br/>
            <a:r>
              <a:t>Output</a:t>
            </a:r>
          </a:p>
        </p:txBody>
      </p:sp>
      <p:sp>
        <p:nvSpPr>
          <p:cNvPr id="47" name="Stored Data 46"/>
          <p:cNvSpPr/>
          <p:nvPr/>
        </p:nvSpPr>
        <p:spPr>
          <a:xfrm>
            <a:off x="4630000" y="4100000"/>
            <a:ext cx="1300000" cy="550000"/>
          </a:xfrm>
          <a:prstGeom prst="flowChartOnlineStorage">
            <a:avLst/>
          </a:prstGeom>
          <a:solidFill>
            <a:srgbClr val="E6E9EE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Responses</a:t>
            </a:r>
            <a:br/>
            <a:r>
              <a:t>DB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30000" y="3910000"/>
            <a:ext cx="250000" cy="190000"/>
          </a:xfrm>
          <a:prstGeom prst="line">
            <a:avLst/>
          </a:prstGeom>
          <a:ln w="25400">
            <a:solidFill>
              <a:srgbClr val="C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58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58B3AE-D78E-2DFA-3544-ACC07E1F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DD390EE-1A10-9044-4D2A-E7987842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9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192C1A7F-F8E0-0AFD-7993-6C1FDECBCA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9876" y="1320997"/>
            <a:ext cx="11029335" cy="5035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Participants must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the official PPT template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provided by the organizing committee for idea submission.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presentation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clear, well-structured, and limited to the recommended number of slides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mentioned in the template.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Teams must ensure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 required sections are properly included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the presentation.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content of the PPT must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original and created by the team members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Any form of plagiarism may lead to disqualification.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readable fonts, proper headings, and relevant visuals (charts, diagrams, flowcharts)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explain the idea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PPT file should be submitted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.pptx or .pdf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the prescribed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file naming convention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TeamName_ProjectTitle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Teams must ensure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 information provided in the presentation is accurate and relevant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the selected hackathon theme.</a:t>
            </a:r>
          </a:p>
        </p:txBody>
      </p:sp>
    </p:spTree>
    <p:extLst>
      <p:ext uri="{BB962C8B-B14F-4D97-AF65-F5344CB8AC3E}">
        <p14:creationId xmlns:p14="http://schemas.microsoft.com/office/powerpoint/2010/main" val="84030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288</Words>
  <Application>Microsoft Office PowerPoint</Application>
  <PresentationFormat>Custom</PresentationFormat>
  <Paragraphs>60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Problem Statement</vt:lpstr>
      <vt:lpstr>Proposed Solution / Idea</vt:lpstr>
      <vt:lpstr>Proposed Solution / Idea</vt:lpstr>
      <vt:lpstr>Proposed Solution / Idea</vt:lpstr>
      <vt:lpstr>Proposed Solution / Idea</vt:lpstr>
      <vt:lpstr>Proposed Solution / Idea</vt:lpstr>
      <vt:lpstr>Guidelines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admin</cp:lastModifiedBy>
  <cp:revision>4</cp:revision>
  <dcterms:created xsi:type="dcterms:W3CDTF">2025-09-03T04:31:11Z</dcterms:created>
  <dcterms:modified xsi:type="dcterms:W3CDTF">2026-03-13T11:57:06Z</dcterms:modified>
</cp:coreProperties>
</file>