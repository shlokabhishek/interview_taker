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AI INTERVIEW PLATFORM</a:t>
            </a:r>
          </a:p>
          <a:p>
            <a:pPr>
              <a:spcBef>
                <a:spcPts val="1200"/>
              </a:spcBef>
              <a:defRPr sz="2000">
                <a:solidFill>
                  <a:srgbClr val="C7D2FE"/>
                </a:solidFill>
              </a:defRPr>
            </a:pPr>
            <a:r>
              <a:t>An AI-Driven Automated Interview System with Avatar-Based Candidate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10362895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ACADEMIC PROJECT DEFENSE &amp; PRESENTATION</a:t>
            </a:r>
          </a:p>
          <a:p>
            <a:pPr>
              <a:spcBef>
                <a:spcPts val="800"/>
              </a:spcBef>
              <a:defRPr sz="1200">
                <a:solidFill>
                  <a:srgbClr val="E2E8F0"/>
                </a:solidFill>
              </a:defRPr>
            </a:pPr>
            <a:r>
              <a:t>Mapped Program Outcomes: PO1 (Problem Definition) | PO4 (Project Concept) | PO5 (Literature Survey) | PO2 (Feasibility) | PO11 (Roadmap &amp; Team Distribution)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Presenter / Lead Developer: Shlok Abhishek  |  Technology Stack: React 18, Vite, Node.js, Web Speech API, OpenAI LLM,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1. PROBLEM DEFINITION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Clarity of Problem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Current Hiring Challenges &amp; Pain Points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High Human Resource Burden: </a:t>
            </a:r>
            <a:r>
              <a:rPr b="0"/>
              <a:t>Manual screening &amp; scheduling consume hundreds of HR hours per open position.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Subjectivity &amp; Evaluation Bias: </a:t>
            </a:r>
            <a:r>
              <a:rPr b="0"/>
              <a:t>Unstructured human interviews suffer from interviewer fatigue, personal bias, and inconsistent scoring metrics.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Scalability Bottleneck: </a:t>
            </a:r>
            <a:r>
              <a:rPr b="0"/>
              <a:t>Concurrent evaluation of hundreds of applicants simultaneously is impossible with human panels.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Asynchronous Quality Deficit: </a:t>
            </a:r>
            <a:r>
              <a:rPr b="0"/>
              <a:t>Existing automated form tests lack human interaction, engagement, and video/audio nuance.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Interview Integrity Risks: </a:t>
            </a:r>
            <a:r>
              <a:rPr b="0"/>
              <a:t>Unmonitored remote screening invites cheating, impersonation, or unauthorized external assistance.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Problem Statement &amp; Project Objectives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Core Objective: </a:t>
            </a:r>
            <a:r>
              <a:rPr b="0"/>
              <a:t>Design &amp; deploy a full-stack, AI-driven asynchronous interview platform that humanizes screening via personalized avatars.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Humanized Interaction: </a:t>
            </a:r>
            <a:r>
              <a:rPr b="0"/>
              <a:t>Allow HR to train digital avatars using face photos and voice samples to conduct voice-guided video interviews.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Automated Scoring Engine: </a:t>
            </a:r>
            <a:r>
              <a:rPr b="0"/>
              <a:t>Implement multi-dimensional scoring (Relevance, Technical Accuracy, Confidence, Keywords, Skills) powered by LLMs.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Resilient Architecture: </a:t>
            </a:r>
            <a:r>
              <a:rPr b="0"/>
              <a:t>Provide a deterministic local rule-based fallback engine to guarantee 100% uptime during API service outages.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Proctored Integrity: </a:t>
            </a:r>
            <a:r>
              <a:rPr b="0"/>
              <a:t>Incorporate browser-based computer-vision heuristics to detect unauthorized mobile phone usage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2. PROJECT CONCEPT &amp;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Description of Project Concept - Architecture &amp;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Interviewer Portal (HR)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Profile &amp; Settings: </a:t>
            </a:r>
            <a:r>
              <a:rPr b="0"/>
              <a:t>No-auth local profile with configurable API endpoints &amp; share links.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Avatar Trainer: </a:t>
            </a:r>
            <a:r>
              <a:rPr b="0"/>
              <a:t>Upload face photos &amp; audio samples to synthesize interviewer avatar.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Session Creation: </a:t>
            </a:r>
            <a:r>
              <a:rPr b="0"/>
              <a:t>Define custom role questions, criteria, weights, and expected keywords.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Candidate Leaderboard: </a:t>
            </a:r>
            <a:r>
              <a:rPr b="0"/>
              <a:t>View AI-analyzed scores, transcripts, video recordings, and candidate rankings.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Candidate Portal (Applicant)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Seamless Registration: </a:t>
            </a:r>
            <a:r>
              <a:rPr b="0"/>
              <a:t>Access interview via unique shared link with zero software install.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Interactive AI Room: </a:t>
            </a:r>
            <a:r>
              <a:rPr b="0"/>
              <a:t>Engage with personalized avatar delivering audio questions via Web Speech TTS.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Speech-to-Text Processing: </a:t>
            </a:r>
            <a:r>
              <a:rPr b="0"/>
              <a:t>Real-time speech recognition converts spoken answers into text transcripts.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Media Recorder: </a:t>
            </a:r>
            <a:r>
              <a:rPr b="0"/>
              <a:t>Captures candidate video/audio WebM blobs for HR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Core Engine &amp; API Layer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Serverless API Layer: </a:t>
            </a:r>
            <a:r>
              <a:rPr b="0"/>
              <a:t>Node.js / Vercel endpoints mediating secure OpenAI LLM calls.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Dual-Engine Evaluator: </a:t>
            </a:r>
            <a:r>
              <a:rPr b="0"/>
              <a:t>Instruction-tuned LLM scoring with local rule-based fallback.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Phone-Usage CV Detector: </a:t>
            </a:r>
            <a:r>
              <a:rPr b="0"/>
              <a:t>Client-side connected-component video analysis for integrity.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Flexible Persistence: </a:t>
            </a:r>
            <a:r>
              <a:rPr b="0"/>
              <a:t>Browser localStorage + optional MongoDB database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2. PROJECT CONCEPT &amp;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Description of Project Concept - AI Scoring &amp; Avatar Tech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Personalized AI Avatar &amp; Speech Pipeline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Likeness Training: </a:t>
            </a:r>
            <a:r>
              <a:rPr b="0"/>
              <a:t>Combines HR face photo/video with synthetic voice profiles.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TTS Speech Synthesis: </a:t>
            </a:r>
            <a:r>
              <a:rPr b="0"/>
              <a:t>Uses Web Speech API to articulate interview questions naturally with pitch/rate modulation.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Visual Synchronization: </a:t>
            </a:r>
            <a:r>
              <a:rPr b="0"/>
              <a:t>Subtle pulse animations and active speaking indicators simulate human conversation.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Accessibility &amp; Control: </a:t>
            </a:r>
            <a:r>
              <a:rPr b="0"/>
              <a:t>Candidates can toggle closed captions, adjust volume, or replay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Multi-Dimensional Candidate Assessment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Relevance Score (w_R = 0.25): </a:t>
            </a:r>
            <a:r>
              <a:rPr b="0"/>
              <a:t>Measures lexical overlap &amp; depth of direct response to the prompt.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Technical Accuracy (w_A = 0.30): </a:t>
            </a:r>
            <a:r>
              <a:rPr b="0"/>
              <a:t>Evaluates domain correctness against expected technical solutions.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Confidence Analysis (w_C = 0.20): </a:t>
            </a:r>
            <a:r>
              <a:rPr b="0"/>
              <a:t>Infers assertiveness, specificity, and ownership language.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Keyword Matching (w_K = 0.25): </a:t>
            </a:r>
            <a:r>
              <a:rPr b="0"/>
              <a:t>Verifies presence of domain-specific target terminology.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Mathematical Formulation: </a:t>
            </a:r>
            <a:r>
              <a:rPr b="0"/>
              <a:t>Overall Score = min(100, [w_R*R + w_A*A + w_C*C + w_K*K]) * Question_Weight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3. LITERATURE SURVEY &amp;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Study of the Literature Survey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Key Academic Research Literature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Cappelli (2019) [HBR]: </a:t>
            </a:r>
            <a:r>
              <a:rPr b="0"/>
              <a:t>Highlights critical flaws &amp; systemic inefficiencies in conventional human hiring pipelines.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Levashina et al. (2014) [Pers. Psych.]: </a:t>
            </a:r>
            <a:r>
              <a:rPr b="0"/>
              <a:t>Proves structured interviews reduce bias but remain highly labor-intensive.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Salgado &amp; Moscoso (2012): </a:t>
            </a:r>
            <a:r>
              <a:rPr b="0"/>
              <a:t>Establishes predictive validity of structured evaluation while emphasizing operational cost bottlenecks.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Devlin et al. (2019) &amp; OpenAI (2023): </a:t>
            </a:r>
            <a:r>
              <a:rPr b="0"/>
              <a:t>Demonstrates power of BERT &amp; LLMs for deep semantic NLP and response scoring.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Sridhar &amp; Narayanan (2020): </a:t>
            </a:r>
            <a:r>
              <a:rPr b="0"/>
              <a:t>Explores virtual agents &amp; TTS synthesis for engaging human-computer interaction.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463040"/>
          <a:ext cx="52120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280160"/>
                <a:gridCol w="1280160"/>
                <a:gridCol w="1280160"/>
              </a:tblGrid>
              <a:tr h="95097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Traditional HR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Text Bots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Proposed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Interviewer Face/Voice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Human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Static /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Personalized Avatar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Scoring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Manual &amp; Subjective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Keyword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LLM + Fallback Rules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System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Scheduled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Cloud 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100% Uptime (Fallback)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Integrity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In-person proctor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F46E5"/>
                          </a:solidFill>
                        </a:defRPr>
                      </a:pPr>
                      <a:r>
                        <a:t>Browser CV Phone Detect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3. LITERATURE SURVEY &amp;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Study of the Literature Survey - Identified Research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Gap 1: Depersonalization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Existing State: </a:t>
            </a:r>
            <a:r>
              <a:rPr b="0"/>
              <a:t>Automated interview systems use generic text bots or robotic voiceovers, causing low candidate engagement.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Our Solution: </a:t>
            </a:r>
            <a:r>
              <a:rPr b="0"/>
              <a:t>Personalized AI Avatar synthesized from actual HR face photos and voice samples to humanize the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Gap 2: Third-Party Fragility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Existing State: </a:t>
            </a:r>
            <a:r>
              <a:rPr b="0"/>
              <a:t>Pure LLM applications crash or fail completely when API keys expire or server outages occur.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Our Solution: </a:t>
            </a:r>
            <a:r>
              <a:rPr b="0"/>
              <a:t>Deterministic Local Rule-Based Scorer that guarantees continuous evaluation capability without cloud AI dependencies.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Gap 3: Unmonitored Remote Cheating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Existing State: </a:t>
            </a:r>
            <a:r>
              <a:rPr b="0"/>
              <a:t>Asynchronous video tools have no real-time checks for unauthorized phone usage or notes during answers.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Our Solution: </a:t>
            </a:r>
            <a:r>
              <a:rPr b="0"/>
              <a:t>In-browser computer-vision heuristic using frame connected-component labeling for real-time phone detection.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4. PROJECT FEASIBILITY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Feasibility - Technical &amp; Operational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Technical Feasibility &amp; Stack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Modern Stack: </a:t>
            </a:r>
            <a:r>
              <a:rPr b="0"/>
              <a:t>Built on React 18, Vite 5, TailwindCSS 3, React Router 6, and Lucide React.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Native Web APIs: </a:t>
            </a:r>
            <a:r>
              <a:rPr b="0"/>
              <a:t>Leverages standard Web Speech API (TTS &amp; STT) and MediaRecorder API, requiring zero third-party plugins.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Serverless API Architecture: </a:t>
            </a:r>
            <a:r>
              <a:rPr b="0"/>
              <a:t>Lightweight Express backend + Vercel Serverless API functions for seamless global scaling.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Database Integration: </a:t>
            </a:r>
            <a:r>
              <a:rPr b="0"/>
              <a:t>MongoDB document persistence for cross-device synchronization with graceful fallback to browser localStorage.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AI Model Compatibility: </a:t>
            </a:r>
            <a:r>
              <a:rPr b="0"/>
              <a:t>Integrates OpenAI GPT models (gpt-4o / gpt-5.6-luna) via structured JSON schema prompts.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Operational Feasibility &amp; User Experience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Zero Friction for Applicants: </a:t>
            </a:r>
            <a:r>
              <a:rPr b="0"/>
              <a:t>Candidates join via simple browser URLs without creating accounts or downloading software.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Browser Compatibility: </a:t>
            </a:r>
            <a:r>
              <a:rPr b="0"/>
              <a:t>Optimized for Chromium browsers (Chrome 80+, Edge 80+), with fallback for Firefox and Safari.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Interviewer Autonomy: </a:t>
            </a:r>
            <a:r>
              <a:rPr b="0"/>
              <a:t>Intuitive dashboard allows HR to set up sessions, custom questions, and avatars in under 5 minutes.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System Availability Guarantee: </a:t>
            </a:r>
            <a:r>
              <a:rPr b="0"/>
              <a:t>Rule-based smart question generator and response analyzer ensure 100% operational readiness.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4. PROJECT FEASIBILITY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Feasibility - Economic, Legal &amp; Ethical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Economic Feasibility &amp; Cost-Effectiveness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Minimal Infrastructure Overhead: </a:t>
            </a:r>
            <a:r>
              <a:rPr b="0"/>
              <a:t>Serverless deployment eliminates expensive dedicated server hosting costs.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Low Token API Cost: </a:t>
            </a:r>
            <a:r>
              <a:rPr b="0"/>
              <a:t>Optimized prompt engineering compresses API payload, resulting in pennies per candidate interview.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Client-Side Offloading: </a:t>
            </a:r>
            <a:r>
              <a:rPr b="0"/>
              <a:t>Speech recognition, video recording, and phone detection execute on client browsers, cutting backend CPU costs.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High HR ROI: </a:t>
            </a:r>
            <a:r>
              <a:rPr b="0"/>
              <a:t>Reduces initial screening costs by over 80% while accelerating candidate shortlisting from weeks to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Legal, Ethical &amp; Privacy Compliance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Privacy-First Media Handling: </a:t>
            </a:r>
            <a:r>
              <a:rPr b="0"/>
              <a:t>Video and audio files are captured and stored client-side or securely in isolated cloud storage.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Zero Server Frame Transmission: </a:t>
            </a:r>
            <a:r>
              <a:rPr b="0"/>
              <a:t>Phone-usage detection processes camera frames strictly in browser memory—no facial or video data leaves the device.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GDPR &amp; Data Protection: </a:t>
            </a:r>
            <a:r>
              <a:rPr b="0"/>
              <a:t>Explicit consent banners, transparent data retention rules, and secure session credentials.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Unbiased Scoring: </a:t>
            </a:r>
            <a:r>
              <a:rPr b="0"/>
              <a:t>Multi-dimensional scoring evaluates objective answer transcripts against standardized criteria, neutralizing human demographic bias.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5. ROADMAP &amp; TEAM WORK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Roadmap of Project - Timeline &amp; Development Phases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103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Phase 1: Architecture &amp; Planning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Scope &amp; Requirements: </a:t>
            </a:r>
            <a:r>
              <a:rPr b="0"/>
              <a:t>Defined PO objectives &amp; system requirements.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Tech Selection: </a:t>
            </a:r>
            <a:r>
              <a:rPr b="0"/>
              <a:t>Selected React, Vite, Node.js, and MongoDB.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463040"/>
            <a:ext cx="2103120" cy="4754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Phase 2: Core Portals &amp; UI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Interviewer Dashboard: </a:t>
            </a:r>
            <a:r>
              <a:rPr b="0"/>
              <a:t>Built session creation &amp; candidate tracking UI.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Candidate Portal: </a:t>
            </a:r>
            <a:r>
              <a:rPr b="0"/>
              <a:t>Designed candidate registration &amp;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463040"/>
            <a:ext cx="2103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Phase 3: AI Avatar &amp; Speech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Avatar Synthesis: </a:t>
            </a:r>
            <a:r>
              <a:rPr b="0"/>
              <a:t>Integrated face photo &amp; voice profile.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Speech Pipeline: </a:t>
            </a:r>
            <a:r>
              <a:rPr b="0"/>
              <a:t>Implemented Web Speech TTS/STT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463040"/>
            <a:ext cx="2103120" cy="47548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Phase 4: LLM &amp; Fallback Scorer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LLM Endpoint: </a:t>
            </a:r>
            <a:r>
              <a:rPr b="0"/>
              <a:t>Connected OpenAI GPT API with JSON schema.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Local Fallback: </a:t>
            </a:r>
            <a:r>
              <a:rPr b="0"/>
              <a:t>Built rule-based keyword &amp; relevance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0" y="1463040"/>
            <a:ext cx="21031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Phase 5: Integrity &amp; Testing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CV Phone Detection: </a:t>
            </a:r>
            <a:r>
              <a:rPr b="0"/>
              <a:t>Added browser canvas connected-component check.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Evaluation &amp; Paper: </a:t>
            </a:r>
            <a:r>
              <a:rPr b="0"/>
              <a:t>System testing &amp; IEEE paper defense.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5. ROADMAP &amp; TEAM WORK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Distribution of Work Among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Team Work Distribution &amp; Responsibility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103120"/>
          <a:ext cx="101498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4114800"/>
                <a:gridCol w="20116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Module / Area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Lead 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Responsibilities &amp; Deliverables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Program Outcome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Frontend UI &amp; Layouts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Shlok Abhishek (Lead)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React SPA architecture, Tailwind design system, Candidate &amp; Interviewer views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PO4 (Concept)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AI Avatar &amp; Speech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Shlok Abhishek (Lead)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Avatar trainer module, Web Speech TTS synthesis, STT transcription, visual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PO4 (Concept)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Backend API &amp; LLM Scorer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Shlok Abhishek (Lead)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Vercel serverless API, OpenAI GPT prompt engineering, MongoDB database persistence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PO1 &amp; PO2 (Feasibility)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Deterministic Fallback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Shlok Abhishek (Lead)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Local rule-based generator &amp; multi-dimensional weighted scoring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PO2 (Feasibility)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CV Integrity &amp; Research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Shlok Abhishek (Lead)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Canvas phone-usage detection heuristic, performance testing, IEEE LaTeX paper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PO5 &amp; PO11 (Roadmap)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6. SYSTEM IMPLEMENTATION &amp;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Demonstration &amp; Key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57200"/>
            <a:ext cx="1828800" cy="411480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338CA"/>
                </a:solidFill>
              </a:defRPr>
            </a:pPr>
            <a:r>
              <a:t>Outcome: PO4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1. Interviewer Dashboard &amp; Avatar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Avatar Trainer: </a:t>
            </a:r>
            <a:r>
              <a:rPr b="0"/>
              <a:t>Upload facial photos &amp; record voice samples.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Session Creator: </a:t>
            </a:r>
            <a:r>
              <a:rPr b="0"/>
              <a:t>Define role requirements, target skills, &amp; weights.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2. Candidate Interactive Interview Room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TTS Avatar Guidance: </a:t>
            </a:r>
            <a:r>
              <a:rPr b="0"/>
              <a:t>Interactive avatar asks questions with live voice.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Real-time STT: </a:t>
            </a:r>
            <a:r>
              <a:rPr b="0"/>
              <a:t>Captures applicant response with speech-to-text transcript.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3. Automated Candidate Evaluation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Multi-Dimensional Score: </a:t>
            </a:r>
            <a:r>
              <a:rPr b="0"/>
              <a:t>Displays Relevance, Accuracy, Confidence &amp; Keywords.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Ranked Leaderboard: </a:t>
            </a:r>
            <a:r>
              <a:rPr b="0"/>
              <a:t>Ranks applicants instantly for HR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4F46E5"/>
                </a:solidFill>
              </a:defRPr>
            </a:pPr>
            <a:r>
              <a:t>4. Interview Integrity &amp; Proctoring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Phone-Usage Detection: </a:t>
            </a:r>
            <a:r>
              <a:rPr b="0"/>
              <a:t>CV canvas heuristic alerts on handheld phone presence.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b="1">
                <a:solidFill>
                  <a:srgbClr val="0F172A"/>
                </a:solidFill>
              </a:rPr>
              <a:t>•  Local Fallback: </a:t>
            </a:r>
            <a:r>
              <a:rPr b="0"/>
              <a:t>Smooth transition to rule-based engine during outages.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698480" cy="5669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rPr b="1">
                <a:solidFill>
                  <a:srgbClr val="C7D2FE"/>
                </a:solidFill>
              </a:rPr>
              <a:t>•  Project Achievements: </a:t>
            </a:r>
            <a:r>
              <a:rPr b="0">
                <a:solidFill>
                  <a:srgbClr val="E2E8F0"/>
                </a:solidFill>
              </a:rPr>
              <a:t>Successfully developed and verified an AI-driven automated interview platform featuring avatar synthesis, speech recognition, LLM multi-dimensional scoring, local fallback resilience, and browser-based proctoring.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rPr b="1">
                <a:solidFill>
                  <a:srgbClr val="C7D2FE"/>
                </a:solidFill>
              </a:rPr>
              <a:t>•  Program Outcomes Fulfilled: </a:t>
            </a:r>
            <a:r>
              <a:rPr b="0">
                <a:solidFill>
                  <a:srgbClr val="E2E8F0"/>
                </a:solidFill>
              </a:rPr>
              <a:t>PO1 (Clear Problem Definition), PO4 (Comprehensive System Concept), PO5 (Literature Survey &amp; Matrix), PO2 (Rigorous Feasibility Analysis), PO11 (Structured Roadmap &amp; Work Distribution).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rPr b="1">
                <a:solidFill>
                  <a:srgbClr val="C7D2FE"/>
                </a:solidFill>
              </a:rPr>
              <a:t>•  Key Deliverables: </a:t>
            </a:r>
            <a:r>
              <a:rPr b="0">
                <a:solidFill>
                  <a:srgbClr val="E2E8F0"/>
                </a:solidFill>
              </a:rPr>
              <a:t>Production-ready Web SPA (React/Vite), Serverless Backend API, Comprehensive Documentation (README.md), and Academic Research Defense Paper (research_paper.tex).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rPr b="1">
                <a:solidFill>
                  <a:srgbClr val="C7D2FE"/>
                </a:solidFill>
              </a:rPr>
              <a:t>•  Future Enhancements: </a:t>
            </a:r>
            <a:r>
              <a:rPr b="0">
                <a:solidFill>
                  <a:srgbClr val="E2E8F0"/>
                </a:solidFill>
              </a:rPr>
              <a:t>Integration of deep-learning object detectors (YOLO/MediaPipe), emotion and prosody voice analysis, multimodal video-transcript evaluation models, and multi-interviewer panel avatars.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