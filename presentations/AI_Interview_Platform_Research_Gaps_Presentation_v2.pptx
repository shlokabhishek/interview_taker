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90" d="100"/>
          <a:sy n="90" d="100"/>
        </p:scale>
        <p:origin x="370"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234440"/>
            <a:ext cx="10058400" cy="1280160"/>
          </a:xfrm>
          <a:prstGeom prst="rect">
            <a:avLst/>
          </a:prstGeom>
          <a:noFill/>
        </p:spPr>
        <p:txBody>
          <a:bodyPr wrap="none">
            <a:spAutoFit/>
          </a:bodyPr>
          <a:lstStyle/>
          <a:p>
            <a:pPr>
              <a:defRPr sz="3000" b="1">
                <a:solidFill>
                  <a:srgbClr val="FFFFFF"/>
                </a:solidFill>
              </a:defRPr>
            </a:pPr>
            <a:r>
              <a:t>AI Interview Platform</a:t>
            </a:r>
          </a:p>
          <a:p>
            <a:pPr>
              <a:spcBef>
                <a:spcPts val="1000"/>
              </a:spcBef>
              <a:defRPr sz="1900">
                <a:solidFill>
                  <a:srgbClr val="C7D2FE"/>
                </a:solidFill>
              </a:defRPr>
            </a:pPr>
            <a:r>
              <a:t>An AI-Driven Automated Interview Platform with Avatar-Based Candidate Assessment</a:t>
            </a:r>
          </a:p>
        </p:txBody>
      </p:sp>
      <p:sp>
        <p:nvSpPr>
          <p:cNvPr id="4" name="Rounded Rectangle 3"/>
          <p:cNvSpPr/>
          <p:nvPr/>
        </p:nvSpPr>
        <p:spPr>
          <a:xfrm>
            <a:off x="914400" y="3657600"/>
            <a:ext cx="10241280" cy="1645920"/>
          </a:xfrm>
          <a:prstGeom prst="roundRect">
            <a:avLst/>
          </a:prstGeom>
          <a:solidFill>
            <a:srgbClr val="1E293B"/>
          </a:solidFill>
          <a:ln>
            <a:solidFill>
              <a:srgbClr val="4F46E5"/>
            </a:solidFill>
          </a:ln>
        </p:spPr>
        <p:style>
          <a:lnRef idx="1">
            <a:schemeClr val="accent1"/>
          </a:lnRef>
          <a:fillRef idx="3">
            <a:schemeClr val="accent1"/>
          </a:fillRef>
          <a:effectRef idx="2">
            <a:schemeClr val="accent1"/>
          </a:effectRef>
          <a:fontRef idx="minor">
            <a:schemeClr val="lt1"/>
          </a:fontRef>
        </p:style>
        <p:txBody>
          <a:bodyPr wrap="square" lIns="274320" tIns="228600" rtlCol="0" anchor="ctr"/>
          <a:lstStyle/>
          <a:p>
            <a:pPr algn="ctr">
              <a:defRPr sz="1800" b="1">
                <a:solidFill>
                  <a:srgbClr val="FFFFFF"/>
                </a:solidFill>
              </a:defRPr>
            </a:pPr>
            <a:r>
              <a:rPr dirty="0"/>
              <a:t>Research-Focused Presentation</a:t>
            </a:r>
          </a:p>
          <a:p>
            <a:pPr>
              <a:spcBef>
                <a:spcPts val="800"/>
              </a:spcBef>
              <a:defRPr sz="1200">
                <a:solidFill>
                  <a:srgbClr val="BFDBFE"/>
                </a:solidFill>
              </a:defRPr>
            </a:pPr>
            <a:r>
              <a:rPr dirty="0"/>
              <a:t>Title, Abstract, Introduction, Objectives, Existing System, and Research Gaps.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4114800" cy="320040"/>
          </a:xfrm>
          <a:prstGeom prst="rect">
            <a:avLst/>
          </a:prstGeom>
          <a:noFill/>
        </p:spPr>
        <p:txBody>
          <a:bodyPr wrap="none">
            <a:spAutoFit/>
          </a:bodyPr>
          <a:lstStyle/>
          <a:p>
            <a:pPr>
              <a:defRPr sz="1100" b="1">
                <a:solidFill>
                  <a:srgbClr val="4F46E5"/>
                </a:solidFill>
              </a:defRPr>
            </a:pPr>
            <a:r>
              <a:t>SECTION 1</a:t>
            </a:r>
          </a:p>
        </p:txBody>
      </p:sp>
      <p:sp>
        <p:nvSpPr>
          <p:cNvPr id="3" name="TextBox 2"/>
          <p:cNvSpPr txBox="1"/>
          <p:nvPr/>
        </p:nvSpPr>
        <p:spPr>
          <a:xfrm>
            <a:off x="731520" y="594360"/>
            <a:ext cx="10515600" cy="640080"/>
          </a:xfrm>
          <a:prstGeom prst="rect">
            <a:avLst/>
          </a:prstGeom>
          <a:noFill/>
        </p:spPr>
        <p:txBody>
          <a:bodyPr wrap="none">
            <a:spAutoFit/>
          </a:bodyPr>
          <a:lstStyle/>
          <a:p>
            <a:pPr>
              <a:defRPr sz="2400" b="1">
                <a:solidFill>
                  <a:srgbClr val="0F172A"/>
                </a:solidFill>
              </a:defRPr>
            </a:pPr>
            <a:r>
              <a:t>Abstract</a:t>
            </a:r>
          </a:p>
        </p:txBody>
      </p:sp>
      <p:sp>
        <p:nvSpPr>
          <p:cNvPr id="4" name="Rounded Rectangle 3"/>
          <p:cNvSpPr/>
          <p:nvPr/>
        </p:nvSpPr>
        <p:spPr>
          <a:xfrm>
            <a:off x="731520" y="1463040"/>
            <a:ext cx="10698480" cy="4754880"/>
          </a:xfrm>
          <a:prstGeom prst="roundRect">
            <a:avLst/>
          </a:prstGeom>
          <a:solidFill>
            <a:srgbClr val="EEF2FF"/>
          </a:solidFill>
          <a:ln>
            <a:solidFill>
              <a:srgbClr val="4F46E5"/>
            </a:solidFill>
          </a:ln>
        </p:spPr>
        <p:style>
          <a:lnRef idx="1">
            <a:schemeClr val="accent1"/>
          </a:lnRef>
          <a:fillRef idx="3">
            <a:schemeClr val="accent1"/>
          </a:fillRef>
          <a:effectRef idx="2">
            <a:schemeClr val="accent1"/>
          </a:effectRef>
          <a:fontRef idx="minor">
            <a:schemeClr val="lt1"/>
          </a:fontRef>
        </p:style>
        <p:txBody>
          <a:bodyPr wrap="square" lIns="274320" tIns="228600" rIns="274320" bIns="228600" rtlCol="0" anchor="ctr"/>
          <a:lstStyle/>
          <a:p>
            <a:pPr algn="just">
              <a:spcAft>
                <a:spcPts val="1000"/>
              </a:spcAft>
              <a:defRPr sz="1300">
                <a:solidFill>
                  <a:srgbClr val="334155"/>
                </a:solidFill>
              </a:defRPr>
            </a:pPr>
            <a:r>
              <a:rPr dirty="0"/>
              <a:t>The rapid growth of remote hiring has created demand for interview systems that scale without sacrificing consistency or candidate experience. This paper presents AI Interview Platform, a web-based system that lets recruiting teams run automated, asynchronous video interviews through a personalized AI avatar. The platform combines a React single-page application with a serverless backend, and uses a large language model (LLM) for question generation, response evaluation, and candidate ranking, with a deterministic rule-based engine as a fallback whenever the LLM is unavailable. A distinguishing feature is the ability to synthesize an interviewer avatar from an HR professional's photographs and voice, paired with text-to-speech (TTS) and speech-to-text (STT) for a conversational interview flow. The system also includes a lightweight, privacy-preserving computer-vision heuristic that flags likely phone use during recording. We describe the architecture, a five-dimension scoring model (relevance, accuracy, confidence, keyword coverage, and skill signal), and the graceful-degradation strategy that keeps the platform operational under API outages or rate limits. We report a functional and qualitative evaluation of the implemented system and, because automated hiring tools now fall under active legal and regulatory scrutiny (e.g., NYC Local Law 144, the Illinois AI Video Interview Act, and the EU AI Act's high-risk classification of employment AI), we discuss the fairness, transparency, and auditability requirements the platform would need to satisfy before production deployment. We position this as a systems and design contribution rather than a validated hiring instrument, and we outline the empirical study needed to establish predictive validity and demographic fairness prior to real-world use.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4114800" cy="320040"/>
          </a:xfrm>
          <a:prstGeom prst="rect">
            <a:avLst/>
          </a:prstGeom>
          <a:noFill/>
        </p:spPr>
        <p:txBody>
          <a:bodyPr wrap="none">
            <a:spAutoFit/>
          </a:bodyPr>
          <a:lstStyle/>
          <a:p>
            <a:pPr>
              <a:defRPr sz="1100" b="1">
                <a:solidFill>
                  <a:srgbClr val="4F46E5"/>
                </a:solidFill>
              </a:defRPr>
            </a:pPr>
            <a:r>
              <a:t>SECTION 2</a:t>
            </a:r>
          </a:p>
        </p:txBody>
      </p:sp>
      <p:sp>
        <p:nvSpPr>
          <p:cNvPr id="3" name="TextBox 2"/>
          <p:cNvSpPr txBox="1"/>
          <p:nvPr/>
        </p:nvSpPr>
        <p:spPr>
          <a:xfrm>
            <a:off x="731520" y="594360"/>
            <a:ext cx="10515600" cy="640080"/>
          </a:xfrm>
          <a:prstGeom prst="rect">
            <a:avLst/>
          </a:prstGeom>
          <a:noFill/>
        </p:spPr>
        <p:txBody>
          <a:bodyPr wrap="none">
            <a:spAutoFit/>
          </a:bodyPr>
          <a:lstStyle/>
          <a:p>
            <a:pPr>
              <a:defRPr sz="2400" b="1">
                <a:solidFill>
                  <a:srgbClr val="0F172A"/>
                </a:solidFill>
              </a:defRPr>
            </a:pPr>
            <a:r>
              <a:t>Introduction</a:t>
            </a:r>
          </a:p>
        </p:txBody>
      </p:sp>
      <p:sp>
        <p:nvSpPr>
          <p:cNvPr id="4" name="Rounded Rectangle 3"/>
          <p:cNvSpPr/>
          <p:nvPr/>
        </p:nvSpPr>
        <p:spPr>
          <a:xfrm>
            <a:off x="731520" y="1463040"/>
            <a:ext cx="5212080" cy="47548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182880" rIns="228600" bIns="182880" rtlCol="0" anchor="ctr"/>
          <a:lstStyle/>
          <a:p>
            <a:pPr algn="ctr">
              <a:spcAft>
                <a:spcPts val="1000"/>
              </a:spcAft>
              <a:defRPr sz="1600" b="1">
                <a:solidFill>
                  <a:srgbClr val="4F46E5"/>
                </a:solidFill>
              </a:defRPr>
            </a:pPr>
            <a:r>
              <a:t>Problem Context</a:t>
            </a:r>
          </a:p>
          <a:p>
            <a:pPr>
              <a:spcAft>
                <a:spcPts val="600"/>
              </a:spcAft>
              <a:defRPr sz="1300">
                <a:solidFill>
                  <a:srgbClr val="334155"/>
                </a:solidFill>
              </a:defRPr>
            </a:pPr>
            <a:r>
              <a:t>Traditional interviews are time-consuming, difficult to scale, and prone to interviewer bias.</a:t>
            </a:r>
          </a:p>
          <a:p>
            <a:pPr>
              <a:spcAft>
                <a:spcPts val="600"/>
              </a:spcAft>
              <a:defRPr sz="1300">
                <a:solidFill>
                  <a:srgbClr val="334155"/>
                </a:solidFill>
              </a:defRPr>
            </a:pPr>
            <a:r>
              <a:t>Remote hiring increases candidate volume and makes scheduling and evaluation consistency harder.</a:t>
            </a:r>
          </a:p>
          <a:p>
            <a:pPr>
              <a:spcAft>
                <a:spcPts val="600"/>
              </a:spcAft>
              <a:defRPr sz="1300">
                <a:solidFill>
                  <a:srgbClr val="334155"/>
                </a:solidFill>
              </a:defRPr>
            </a:pPr>
            <a:r>
              <a:t>Recent NLP and LLM advances enable automatic question generation and response analysis.</a:t>
            </a:r>
          </a:p>
        </p:txBody>
      </p:sp>
      <p:sp>
        <p:nvSpPr>
          <p:cNvPr id="5" name="Rounded Rectangle 4"/>
          <p:cNvSpPr/>
          <p:nvPr/>
        </p:nvSpPr>
        <p:spPr>
          <a:xfrm>
            <a:off x="6217920" y="1463040"/>
            <a:ext cx="5212080" cy="4754880"/>
          </a:xfrm>
          <a:prstGeom prst="roundRect">
            <a:avLst/>
          </a:prstGeom>
          <a:solidFill>
            <a:srgbClr val="EEF2FF"/>
          </a:solidFill>
          <a:ln>
            <a:solidFill>
              <a:srgbClr val="4F46E5"/>
            </a:solidFill>
          </a:ln>
        </p:spPr>
        <p:style>
          <a:lnRef idx="1">
            <a:schemeClr val="accent1"/>
          </a:lnRef>
          <a:fillRef idx="3">
            <a:schemeClr val="accent1"/>
          </a:fillRef>
          <a:effectRef idx="2">
            <a:schemeClr val="accent1"/>
          </a:effectRef>
          <a:fontRef idx="minor">
            <a:schemeClr val="lt1"/>
          </a:fontRef>
        </p:style>
        <p:txBody>
          <a:bodyPr wrap="square" lIns="228600" tIns="182880" rIns="228600" bIns="182880" rtlCol="0" anchor="ctr"/>
          <a:lstStyle/>
          <a:p>
            <a:pPr algn="ctr">
              <a:spcAft>
                <a:spcPts val="1000"/>
              </a:spcAft>
              <a:defRPr sz="1600" b="1">
                <a:solidFill>
                  <a:srgbClr val="0F172A"/>
                </a:solidFill>
              </a:defRPr>
            </a:pPr>
            <a:r>
              <a:t>Why This Work Matters</a:t>
            </a:r>
          </a:p>
          <a:p>
            <a:pPr>
              <a:spcAft>
                <a:spcPts val="600"/>
              </a:spcAft>
              <a:defRPr sz="1300">
                <a:solidFill>
                  <a:srgbClr val="334155"/>
                </a:solidFill>
              </a:defRPr>
            </a:pPr>
            <a:r>
              <a:t>Many current automated tools feel impersonal because they rely on forms or chat-style interfaces.</a:t>
            </a:r>
          </a:p>
          <a:p>
            <a:pPr>
              <a:spcAft>
                <a:spcPts val="600"/>
              </a:spcAft>
              <a:defRPr sz="1300">
                <a:solidFill>
                  <a:srgbClr val="334155"/>
                </a:solidFill>
              </a:defRPr>
            </a:pPr>
            <a:r>
              <a:t>That weakens soft-skill assessment and reduces the realism of the interview experience.</a:t>
            </a:r>
          </a:p>
          <a:p>
            <a:pPr>
              <a:spcAft>
                <a:spcPts val="600"/>
              </a:spcAft>
              <a:defRPr sz="1300">
                <a:solidFill>
                  <a:srgbClr val="334155"/>
                </a:solidFill>
              </a:defRPr>
            </a:pPr>
            <a:r>
              <a:t>This work aims to make AI interviewing more human-like while keeping the process scalable and objective.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4114800" cy="320040"/>
          </a:xfrm>
          <a:prstGeom prst="rect">
            <a:avLst/>
          </a:prstGeom>
          <a:noFill/>
        </p:spPr>
        <p:txBody>
          <a:bodyPr wrap="none">
            <a:spAutoFit/>
          </a:bodyPr>
          <a:lstStyle/>
          <a:p>
            <a:pPr>
              <a:defRPr sz="1100" b="1">
                <a:solidFill>
                  <a:srgbClr val="4F46E5"/>
                </a:solidFill>
              </a:defRPr>
            </a:pPr>
            <a:r>
              <a:t>SECTION 3</a:t>
            </a:r>
          </a:p>
        </p:txBody>
      </p:sp>
      <p:sp>
        <p:nvSpPr>
          <p:cNvPr id="3" name="TextBox 2"/>
          <p:cNvSpPr txBox="1"/>
          <p:nvPr/>
        </p:nvSpPr>
        <p:spPr>
          <a:xfrm>
            <a:off x="731520" y="594360"/>
            <a:ext cx="10515600" cy="640080"/>
          </a:xfrm>
          <a:prstGeom prst="rect">
            <a:avLst/>
          </a:prstGeom>
          <a:noFill/>
        </p:spPr>
        <p:txBody>
          <a:bodyPr wrap="none">
            <a:spAutoFit/>
          </a:bodyPr>
          <a:lstStyle/>
          <a:p>
            <a:pPr>
              <a:defRPr sz="2400" b="1">
                <a:solidFill>
                  <a:srgbClr val="0F172A"/>
                </a:solidFill>
              </a:defRPr>
            </a:pPr>
            <a:r>
              <a:t>Objectives</a:t>
            </a:r>
          </a:p>
        </p:txBody>
      </p:sp>
      <p:sp>
        <p:nvSpPr>
          <p:cNvPr id="4" name="Rounded Rectangle 3"/>
          <p:cNvSpPr/>
          <p:nvPr/>
        </p:nvSpPr>
        <p:spPr>
          <a:xfrm>
            <a:off x="731520" y="1463040"/>
            <a:ext cx="5212080" cy="47548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182880" rIns="228600" bIns="182880" rtlCol="0" anchor="ctr"/>
          <a:lstStyle/>
          <a:p>
            <a:pPr algn="ctr">
              <a:spcAft>
                <a:spcPts val="1000"/>
              </a:spcAft>
              <a:defRPr sz="1600" b="1">
                <a:solidFill>
                  <a:srgbClr val="4F46E5"/>
                </a:solidFill>
              </a:defRPr>
            </a:pPr>
            <a:r>
              <a:t>Primary Objectives</a:t>
            </a:r>
          </a:p>
          <a:p>
            <a:pPr>
              <a:spcAft>
                <a:spcPts val="600"/>
              </a:spcAft>
              <a:defRPr sz="1300">
                <a:solidFill>
                  <a:srgbClr val="334155"/>
                </a:solidFill>
              </a:defRPr>
            </a:pPr>
            <a:r>
              <a:t>Develop a full-stack automated interview platform for interviewer and candidate workflows.</a:t>
            </a:r>
          </a:p>
          <a:p>
            <a:pPr>
              <a:spcAft>
                <a:spcPts val="600"/>
              </a:spcAft>
              <a:defRPr sz="1300">
                <a:solidFill>
                  <a:srgbClr val="334155"/>
                </a:solidFill>
              </a:defRPr>
            </a:pPr>
            <a:r>
              <a:t>Create a personalized AI avatar to deliver questions in a more natural interview format.</a:t>
            </a:r>
          </a:p>
          <a:p>
            <a:pPr>
              <a:spcAft>
                <a:spcPts val="600"/>
              </a:spcAft>
              <a:defRPr sz="1300">
                <a:solidFill>
                  <a:srgbClr val="334155"/>
                </a:solidFill>
              </a:defRPr>
            </a:pPr>
            <a:r>
              <a:t>Generate role-specific and resume-aware interview questions automatically.</a:t>
            </a:r>
          </a:p>
          <a:p>
            <a:pPr>
              <a:spcAft>
                <a:spcPts val="600"/>
              </a:spcAft>
              <a:defRPr sz="1300">
                <a:solidFill>
                  <a:srgbClr val="334155"/>
                </a:solidFill>
              </a:defRPr>
            </a:pPr>
            <a:r>
              <a:t>Score responses across relevance, accuracy, confidence, keyword coverage, and professional skills.</a:t>
            </a:r>
          </a:p>
        </p:txBody>
      </p:sp>
      <p:sp>
        <p:nvSpPr>
          <p:cNvPr id="5" name="Rounded Rectangle 4"/>
          <p:cNvSpPr/>
          <p:nvPr/>
        </p:nvSpPr>
        <p:spPr>
          <a:xfrm>
            <a:off x="6217920" y="1463040"/>
            <a:ext cx="5212080" cy="4754880"/>
          </a:xfrm>
          <a:prstGeom prst="roundRect">
            <a:avLst/>
          </a:prstGeom>
          <a:solidFill>
            <a:srgbClr val="EEF2FF"/>
          </a:solidFill>
          <a:ln>
            <a:solidFill>
              <a:srgbClr val="4F46E5"/>
            </a:solidFill>
          </a:ln>
        </p:spPr>
        <p:style>
          <a:lnRef idx="1">
            <a:schemeClr val="accent1"/>
          </a:lnRef>
          <a:fillRef idx="3">
            <a:schemeClr val="accent1"/>
          </a:fillRef>
          <a:effectRef idx="2">
            <a:schemeClr val="accent1"/>
          </a:effectRef>
          <a:fontRef idx="minor">
            <a:schemeClr val="lt1"/>
          </a:fontRef>
        </p:style>
        <p:txBody>
          <a:bodyPr wrap="square" lIns="228600" tIns="182880" rIns="228600" bIns="182880" rtlCol="0" anchor="ctr"/>
          <a:lstStyle/>
          <a:p>
            <a:pPr algn="ctr">
              <a:spcAft>
                <a:spcPts val="1000"/>
              </a:spcAft>
              <a:defRPr sz="1600" b="1">
                <a:solidFill>
                  <a:srgbClr val="0F172A"/>
                </a:solidFill>
              </a:defRPr>
            </a:pPr>
            <a:r>
              <a:t>Operational Objectives</a:t>
            </a:r>
          </a:p>
          <a:p>
            <a:pPr>
              <a:spcAft>
                <a:spcPts val="600"/>
              </a:spcAft>
              <a:defRPr sz="1300">
                <a:solidFill>
                  <a:srgbClr val="334155"/>
                </a:solidFill>
              </a:defRPr>
            </a:pPr>
            <a:r>
              <a:t>Record video, audio, and transcripts for review and ranking.</a:t>
            </a:r>
          </a:p>
          <a:p>
            <a:pPr>
              <a:spcAft>
                <a:spcPts val="600"/>
              </a:spcAft>
              <a:defRPr sz="1300">
                <a:solidFill>
                  <a:srgbClr val="334155"/>
                </a:solidFill>
              </a:defRPr>
            </a:pPr>
            <a:r>
              <a:t>Detect possible phone usage during interviews using lightweight client-side vision heuristics.</a:t>
            </a:r>
          </a:p>
          <a:p>
            <a:pPr>
              <a:spcAft>
                <a:spcPts val="600"/>
              </a:spcAft>
              <a:defRPr sz="1300">
                <a:solidFill>
                  <a:srgbClr val="334155"/>
                </a:solidFill>
              </a:defRPr>
            </a:pPr>
            <a:r>
              <a:t>Maintain service continuity with a rule-based fallback when external AI APIs are unavailable.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4114800" cy="320040"/>
          </a:xfrm>
          <a:prstGeom prst="rect">
            <a:avLst/>
          </a:prstGeom>
          <a:noFill/>
        </p:spPr>
        <p:txBody>
          <a:bodyPr wrap="none">
            <a:spAutoFit/>
          </a:bodyPr>
          <a:lstStyle/>
          <a:p>
            <a:pPr>
              <a:defRPr sz="1100" b="1">
                <a:solidFill>
                  <a:srgbClr val="4F46E5"/>
                </a:solidFill>
              </a:defRPr>
            </a:pPr>
            <a:r>
              <a:t>SECTION 4</a:t>
            </a:r>
          </a:p>
        </p:txBody>
      </p:sp>
      <p:sp>
        <p:nvSpPr>
          <p:cNvPr id="3" name="TextBox 2"/>
          <p:cNvSpPr txBox="1"/>
          <p:nvPr/>
        </p:nvSpPr>
        <p:spPr>
          <a:xfrm>
            <a:off x="731520" y="594360"/>
            <a:ext cx="10515600" cy="640080"/>
          </a:xfrm>
          <a:prstGeom prst="rect">
            <a:avLst/>
          </a:prstGeom>
          <a:noFill/>
        </p:spPr>
        <p:txBody>
          <a:bodyPr wrap="none">
            <a:spAutoFit/>
          </a:bodyPr>
          <a:lstStyle/>
          <a:p>
            <a:pPr>
              <a:defRPr sz="2400" b="1">
                <a:solidFill>
                  <a:srgbClr val="0F172A"/>
                </a:solidFill>
              </a:defRPr>
            </a:pPr>
            <a:r>
              <a:t>Existing System</a:t>
            </a:r>
          </a:p>
        </p:txBody>
      </p:sp>
      <p:sp>
        <p:nvSpPr>
          <p:cNvPr id="4" name="Rounded Rectangle 3"/>
          <p:cNvSpPr/>
          <p:nvPr/>
        </p:nvSpPr>
        <p:spPr>
          <a:xfrm>
            <a:off x="731520" y="1463040"/>
            <a:ext cx="5212080" cy="47548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182880" rIns="228600" bIns="182880" rtlCol="0" anchor="ctr"/>
          <a:lstStyle/>
          <a:p>
            <a:pPr algn="ctr">
              <a:spcAft>
                <a:spcPts val="1000"/>
              </a:spcAft>
              <a:defRPr sz="1600" b="1">
                <a:solidFill>
                  <a:srgbClr val="4F46E5"/>
                </a:solidFill>
              </a:defRPr>
            </a:pPr>
            <a:r>
              <a:t>Current Approaches</a:t>
            </a:r>
          </a:p>
          <a:p>
            <a:pPr>
              <a:spcAft>
                <a:spcPts val="600"/>
              </a:spcAft>
              <a:defRPr sz="1300">
                <a:solidFill>
                  <a:srgbClr val="334155"/>
                </a:solidFill>
              </a:defRPr>
            </a:pPr>
            <a:r>
              <a:t>Manual interviews depend heavily on human availability, scheduling, and subjective judgment.</a:t>
            </a:r>
          </a:p>
          <a:p>
            <a:pPr>
              <a:spcAft>
                <a:spcPts val="600"/>
              </a:spcAft>
              <a:defRPr sz="1300">
                <a:solidFill>
                  <a:srgbClr val="334155"/>
                </a:solidFill>
              </a:defRPr>
            </a:pPr>
            <a:r>
              <a:t>Structured interview systems improve consistency but still require significant interviewer effort.</a:t>
            </a:r>
          </a:p>
          <a:p>
            <a:pPr>
              <a:spcAft>
                <a:spcPts val="600"/>
              </a:spcAft>
              <a:defRPr sz="1300">
                <a:solidFill>
                  <a:srgbClr val="334155"/>
                </a:solidFill>
              </a:defRPr>
            </a:pPr>
            <a:r>
              <a:t>Earlier automated tools often used fixed question banks and keyword matching.</a:t>
            </a:r>
          </a:p>
          <a:p>
            <a:pPr>
              <a:spcAft>
                <a:spcPts val="600"/>
              </a:spcAft>
              <a:defRPr sz="1300">
                <a:solidFill>
                  <a:srgbClr val="334155"/>
                </a:solidFill>
              </a:defRPr>
            </a:pPr>
            <a:r>
              <a:t>Modern AI interview tools may analyze answers semantically, but many still provide limited interaction quality.</a:t>
            </a:r>
          </a:p>
        </p:txBody>
      </p:sp>
      <p:sp>
        <p:nvSpPr>
          <p:cNvPr id="5" name="Rounded Rectangle 4"/>
          <p:cNvSpPr/>
          <p:nvPr/>
        </p:nvSpPr>
        <p:spPr>
          <a:xfrm>
            <a:off x="6217920" y="1463040"/>
            <a:ext cx="5212080" cy="4754880"/>
          </a:xfrm>
          <a:prstGeom prst="roundRect">
            <a:avLst/>
          </a:prstGeom>
          <a:solidFill>
            <a:srgbClr val="EEF2FF"/>
          </a:solidFill>
          <a:ln>
            <a:solidFill>
              <a:srgbClr val="4F46E5"/>
            </a:solidFill>
          </a:ln>
        </p:spPr>
        <p:style>
          <a:lnRef idx="1">
            <a:schemeClr val="accent1"/>
          </a:lnRef>
          <a:fillRef idx="3">
            <a:schemeClr val="accent1"/>
          </a:fillRef>
          <a:effectRef idx="2">
            <a:schemeClr val="accent1"/>
          </a:effectRef>
          <a:fontRef idx="minor">
            <a:schemeClr val="lt1"/>
          </a:fontRef>
        </p:style>
        <p:txBody>
          <a:bodyPr wrap="square" lIns="228600" tIns="182880" rIns="228600" bIns="182880" rtlCol="0" anchor="ctr"/>
          <a:lstStyle/>
          <a:p>
            <a:pPr algn="ctr">
              <a:spcAft>
                <a:spcPts val="1000"/>
              </a:spcAft>
              <a:defRPr sz="1600" b="1">
                <a:solidFill>
                  <a:srgbClr val="0F172A"/>
                </a:solidFill>
              </a:defRPr>
            </a:pPr>
            <a:r>
              <a:t>Limitations of Existing Systems</a:t>
            </a:r>
          </a:p>
          <a:p>
            <a:pPr>
              <a:spcAft>
                <a:spcPts val="600"/>
              </a:spcAft>
              <a:defRPr sz="1300">
                <a:solidFill>
                  <a:srgbClr val="334155"/>
                </a:solidFill>
              </a:defRPr>
            </a:pPr>
            <a:r>
              <a:t>Low humanization: candidates often interact with static forms or simple bots.</a:t>
            </a:r>
          </a:p>
          <a:p>
            <a:pPr>
              <a:spcAft>
                <a:spcPts val="600"/>
              </a:spcAft>
              <a:defRPr sz="1300">
                <a:solidFill>
                  <a:srgbClr val="334155"/>
                </a:solidFill>
              </a:defRPr>
            </a:pPr>
            <a:r>
              <a:t>Limited soft-skill observation compared with realistic conversational interviewing.</a:t>
            </a:r>
          </a:p>
          <a:p>
            <a:pPr>
              <a:spcAft>
                <a:spcPts val="600"/>
              </a:spcAft>
              <a:defRPr sz="1300">
                <a:solidFill>
                  <a:srgbClr val="334155"/>
                </a:solidFill>
              </a:defRPr>
            </a:pPr>
            <a:r>
              <a:t>Scalability improves, but fairness and engagement can still vary across platforms.</a:t>
            </a:r>
          </a:p>
          <a:p>
            <a:pPr>
              <a:spcAft>
                <a:spcPts val="600"/>
              </a:spcAft>
              <a:defRPr sz="1300">
                <a:solidFill>
                  <a:srgbClr val="334155"/>
                </a:solidFill>
              </a:defRPr>
            </a:pPr>
            <a:r>
              <a:t>Most systems do not combine avatar personalization, integrity checks, and resilient fallback behavior in one workflow.</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4114800" cy="320040"/>
          </a:xfrm>
          <a:prstGeom prst="rect">
            <a:avLst/>
          </a:prstGeom>
          <a:noFill/>
        </p:spPr>
        <p:txBody>
          <a:bodyPr wrap="none">
            <a:spAutoFit/>
          </a:bodyPr>
          <a:lstStyle/>
          <a:p>
            <a:pPr>
              <a:defRPr sz="1100" b="1">
                <a:solidFill>
                  <a:srgbClr val="4F46E5"/>
                </a:solidFill>
              </a:defRPr>
            </a:pPr>
            <a:r>
              <a:t>SECTION 5</a:t>
            </a:r>
          </a:p>
        </p:txBody>
      </p:sp>
      <p:sp>
        <p:nvSpPr>
          <p:cNvPr id="3" name="TextBox 2"/>
          <p:cNvSpPr txBox="1"/>
          <p:nvPr/>
        </p:nvSpPr>
        <p:spPr>
          <a:xfrm>
            <a:off x="731520" y="594360"/>
            <a:ext cx="10515600" cy="640080"/>
          </a:xfrm>
          <a:prstGeom prst="rect">
            <a:avLst/>
          </a:prstGeom>
          <a:noFill/>
        </p:spPr>
        <p:txBody>
          <a:bodyPr wrap="none">
            <a:spAutoFit/>
          </a:bodyPr>
          <a:lstStyle/>
          <a:p>
            <a:pPr>
              <a:defRPr sz="2400" b="1">
                <a:solidFill>
                  <a:srgbClr val="0F172A"/>
                </a:solidFill>
              </a:defRPr>
            </a:pPr>
            <a:r>
              <a:t>Research Gaps</a:t>
            </a:r>
          </a:p>
        </p:txBody>
      </p:sp>
      <p:sp>
        <p:nvSpPr>
          <p:cNvPr id="4" name="Rounded Rectangle 3"/>
          <p:cNvSpPr/>
          <p:nvPr/>
        </p:nvSpPr>
        <p:spPr>
          <a:xfrm>
            <a:off x="731520" y="1463040"/>
            <a:ext cx="5212080" cy="47548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182880" rIns="228600" bIns="182880" rtlCol="0" anchor="ctr"/>
          <a:lstStyle/>
          <a:p>
            <a:pPr algn="ctr">
              <a:spcAft>
                <a:spcPts val="1000"/>
              </a:spcAft>
              <a:defRPr sz="1600" b="1">
                <a:solidFill>
                  <a:srgbClr val="4F46E5"/>
                </a:solidFill>
              </a:defRPr>
            </a:pPr>
            <a:r>
              <a:t>Identified Gaps</a:t>
            </a:r>
          </a:p>
          <a:p>
            <a:pPr>
              <a:spcAft>
                <a:spcPts val="600"/>
              </a:spcAft>
              <a:defRPr sz="1300">
                <a:solidFill>
                  <a:srgbClr val="334155"/>
                </a:solidFill>
              </a:defRPr>
            </a:pPr>
            <a:r>
              <a:t>Personalized interviewer avatars are still underexplored in the recruitment domain.</a:t>
            </a:r>
          </a:p>
          <a:p>
            <a:pPr>
              <a:spcAft>
                <a:spcPts val="600"/>
              </a:spcAft>
              <a:defRPr sz="1300">
                <a:solidFill>
                  <a:srgbClr val="334155"/>
                </a:solidFill>
              </a:defRPr>
            </a:pPr>
            <a:r>
              <a:t>There is a gap between scalable automation and a realistic human-like interview experience.</a:t>
            </a:r>
          </a:p>
          <a:p>
            <a:pPr>
              <a:spcAft>
                <a:spcPts val="600"/>
              </a:spcAft>
              <a:defRPr sz="1300">
                <a:solidFill>
                  <a:srgbClr val="334155"/>
                </a:solidFill>
              </a:defRPr>
            </a:pPr>
            <a:r>
              <a:t>Many systems evaluate content but do not integrate integrity monitoring into the same platform.</a:t>
            </a:r>
          </a:p>
          <a:p>
            <a:pPr>
              <a:spcAft>
                <a:spcPts val="600"/>
              </a:spcAft>
              <a:defRPr sz="1300">
                <a:solidFill>
                  <a:srgbClr val="334155"/>
                </a:solidFill>
              </a:defRPr>
            </a:pPr>
            <a:r>
              <a:t>Reliability during third-party AI outages is often overlooked in research prototypes.</a:t>
            </a:r>
          </a:p>
        </p:txBody>
      </p:sp>
      <p:sp>
        <p:nvSpPr>
          <p:cNvPr id="5" name="Rounded Rectangle 4"/>
          <p:cNvSpPr/>
          <p:nvPr/>
        </p:nvSpPr>
        <p:spPr>
          <a:xfrm>
            <a:off x="6217920" y="1463040"/>
            <a:ext cx="5212080" cy="4754880"/>
          </a:xfrm>
          <a:prstGeom prst="roundRect">
            <a:avLst/>
          </a:prstGeom>
          <a:solidFill>
            <a:srgbClr val="EEF2FF"/>
          </a:solidFill>
          <a:ln>
            <a:solidFill>
              <a:srgbClr val="4F46E5"/>
            </a:solidFill>
          </a:ln>
        </p:spPr>
        <p:style>
          <a:lnRef idx="1">
            <a:schemeClr val="accent1"/>
          </a:lnRef>
          <a:fillRef idx="3">
            <a:schemeClr val="accent1"/>
          </a:fillRef>
          <a:effectRef idx="2">
            <a:schemeClr val="accent1"/>
          </a:effectRef>
          <a:fontRef idx="minor">
            <a:schemeClr val="lt1"/>
          </a:fontRef>
        </p:style>
        <p:txBody>
          <a:bodyPr wrap="square" lIns="228600" tIns="182880" rIns="228600" bIns="182880" rtlCol="0" anchor="ctr"/>
          <a:lstStyle/>
          <a:p>
            <a:pPr algn="ctr">
              <a:spcAft>
                <a:spcPts val="1000"/>
              </a:spcAft>
              <a:defRPr sz="1600" b="1">
                <a:solidFill>
                  <a:srgbClr val="0F172A"/>
                </a:solidFill>
              </a:defRPr>
            </a:pPr>
            <a:r>
              <a:t>Gap Addressed by This Project</a:t>
            </a:r>
          </a:p>
          <a:p>
            <a:pPr>
              <a:spcAft>
                <a:spcPts val="600"/>
              </a:spcAft>
              <a:defRPr sz="1300">
                <a:solidFill>
                  <a:srgbClr val="334155"/>
                </a:solidFill>
              </a:defRPr>
            </a:pPr>
            <a:r>
              <a:t>Brings avatar-based interaction, automated scoring, media capture, and ranking into one system.</a:t>
            </a:r>
          </a:p>
          <a:p>
            <a:pPr>
              <a:spcAft>
                <a:spcPts val="600"/>
              </a:spcAft>
              <a:defRPr sz="1300">
                <a:solidFill>
                  <a:srgbClr val="334155"/>
                </a:solidFill>
              </a:defRPr>
            </a:pPr>
            <a:r>
              <a:t>Adds client-side phone-use detection to strengthen interview trustworthiness.</a:t>
            </a:r>
          </a:p>
          <a:p>
            <a:pPr>
              <a:spcAft>
                <a:spcPts val="600"/>
              </a:spcAft>
              <a:defRPr sz="1300">
                <a:solidFill>
                  <a:srgbClr val="334155"/>
                </a:solidFill>
              </a:defRPr>
            </a:pPr>
            <a:r>
              <a:t>Introduces graceful degradation through local rule-based analysis when the LLM is unavailable.</a:t>
            </a:r>
          </a:p>
          <a:p>
            <a:pPr>
              <a:spcAft>
                <a:spcPts val="600"/>
              </a:spcAft>
              <a:defRPr sz="1300">
                <a:solidFill>
                  <a:srgbClr val="334155"/>
                </a:solidFill>
              </a:defRPr>
            </a:pPr>
            <a:r>
              <a:t>Shows a practical design path for scalable, engaging, and robust AI-assisted hiring.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4114800" cy="320040"/>
          </a:xfrm>
          <a:prstGeom prst="rect">
            <a:avLst/>
          </a:prstGeom>
          <a:noFill/>
        </p:spPr>
        <p:txBody>
          <a:bodyPr wrap="none">
            <a:spAutoFit/>
          </a:bodyPr>
          <a:lstStyle/>
          <a:p>
            <a:pPr>
              <a:defRPr sz="1100" b="1">
                <a:solidFill>
                  <a:srgbClr val="4F46E5"/>
                </a:solidFill>
              </a:defRPr>
            </a:pPr>
            <a:r>
              <a:t>SECTION 6</a:t>
            </a:r>
          </a:p>
        </p:txBody>
      </p:sp>
      <p:sp>
        <p:nvSpPr>
          <p:cNvPr id="3" name="TextBox 2"/>
          <p:cNvSpPr txBox="1"/>
          <p:nvPr/>
        </p:nvSpPr>
        <p:spPr>
          <a:xfrm>
            <a:off x="731520" y="594360"/>
            <a:ext cx="10515600" cy="640080"/>
          </a:xfrm>
          <a:prstGeom prst="rect">
            <a:avLst/>
          </a:prstGeom>
          <a:noFill/>
        </p:spPr>
        <p:txBody>
          <a:bodyPr wrap="none">
            <a:spAutoFit/>
          </a:bodyPr>
          <a:lstStyle/>
          <a:p>
            <a:pPr>
              <a:defRPr sz="2400" b="1">
                <a:solidFill>
                  <a:srgbClr val="0F172A"/>
                </a:solidFill>
              </a:defRPr>
            </a:pPr>
            <a:r>
              <a:t>Conclusion Slide</a:t>
            </a:r>
          </a:p>
        </p:txBody>
      </p:sp>
      <p:sp>
        <p:nvSpPr>
          <p:cNvPr id="4" name="Rounded Rectangle 3"/>
          <p:cNvSpPr/>
          <p:nvPr/>
        </p:nvSpPr>
        <p:spPr>
          <a:xfrm>
            <a:off x="731520" y="1463040"/>
            <a:ext cx="10698480" cy="4754880"/>
          </a:xfrm>
          <a:prstGeom prst="roundRect">
            <a:avLst/>
          </a:prstGeom>
          <a:solidFill>
            <a:srgbClr val="EEF2FF"/>
          </a:solidFill>
          <a:ln>
            <a:solidFill>
              <a:srgbClr val="4F46E5"/>
            </a:solidFill>
          </a:ln>
        </p:spPr>
        <p:style>
          <a:lnRef idx="1">
            <a:schemeClr val="accent1"/>
          </a:lnRef>
          <a:fillRef idx="3">
            <a:schemeClr val="accent1"/>
          </a:fillRef>
          <a:effectRef idx="2">
            <a:schemeClr val="accent1"/>
          </a:effectRef>
          <a:fontRef idx="minor">
            <a:schemeClr val="lt1"/>
          </a:fontRef>
        </p:style>
        <p:txBody>
          <a:bodyPr wrap="square" lIns="228600" tIns="182880" rIns="228600" bIns="182880" rtlCol="0" anchor="ctr"/>
          <a:lstStyle/>
          <a:p>
            <a:pPr algn="ctr">
              <a:spcAft>
                <a:spcPts val="1000"/>
              </a:spcAft>
              <a:defRPr sz="1600" b="1">
                <a:solidFill>
                  <a:srgbClr val="0F172A"/>
                </a:solidFill>
              </a:defRPr>
            </a:pPr>
            <a:r>
              <a:t>Takeaway</a:t>
            </a:r>
          </a:p>
          <a:p>
            <a:pPr>
              <a:spcAft>
                <a:spcPts val="600"/>
              </a:spcAft>
              <a:defRPr sz="1300">
                <a:solidFill>
                  <a:srgbClr val="334155"/>
                </a:solidFill>
              </a:defRPr>
            </a:pPr>
            <a:r>
              <a:t>The proposed platform addresses key limitations of traditional and existing automated interview systems.</a:t>
            </a:r>
          </a:p>
          <a:p>
            <a:pPr>
              <a:spcAft>
                <a:spcPts val="600"/>
              </a:spcAft>
              <a:defRPr sz="1300">
                <a:solidFill>
                  <a:srgbClr val="334155"/>
                </a:solidFill>
              </a:defRPr>
            </a:pPr>
            <a:r>
              <a:t>It balances scalability, objectivity, engagement, and operational resilience.</a:t>
            </a:r>
          </a:p>
          <a:p>
            <a:pPr>
              <a:spcAft>
                <a:spcPts val="600"/>
              </a:spcAft>
              <a:defRPr sz="1300">
                <a:solidFill>
                  <a:srgbClr val="334155"/>
                </a:solidFill>
              </a:defRPr>
            </a:pPr>
            <a:r>
              <a:t>The research gap is centered on humanized AI interviewing with dependable evaluation and integrity support.</a:t>
            </a:r>
          </a:p>
          <a:p>
            <a:pPr>
              <a:spcAft>
                <a:spcPts val="600"/>
              </a:spcAft>
              <a:defRPr sz="1300">
                <a:solidFill>
                  <a:srgbClr val="334155"/>
                </a:solidFill>
              </a:defRPr>
            </a:pPr>
            <a:r>
              <a:t>This presentation can be used as a concise review deck for the project report or viva discussion.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23</TotalTime>
  <Words>817</Words>
  <Application>Microsoft Office PowerPoint</Application>
  <PresentationFormat>Widescreen</PresentationFormat>
  <Paragraphs>59</Paragraphs>
  <Slides>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Shlok Abhishek</cp:lastModifiedBy>
  <cp:revision>3</cp:revision>
  <dcterms:created xsi:type="dcterms:W3CDTF">2013-01-27T09:14:16Z</dcterms:created>
  <dcterms:modified xsi:type="dcterms:W3CDTF">2026-08-20T04:17:55Z</dcterms:modified>
  <cp:category/>
</cp:coreProperties>
</file>